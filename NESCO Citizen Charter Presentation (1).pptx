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BDBE08-635B-4C52-8596-981D0479A892}">
  <a:tblStyle styleId="{88BDBE08-635B-4C52-8596-981D0479A8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18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71500" y="6248400"/>
            <a:ext cx="9525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7000"/>
            <a:ext cx="70633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132734" y="1448097"/>
            <a:ext cx="6094355" cy="377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Northern Electricity Supply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Company (NESCO)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081986" y="3002309"/>
            <a:ext cx="3231653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CITIZEN CHARTER &amp; SERVICE GUIDELINES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313640" y="3259484"/>
            <a:ext cx="130685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Electricity for a better future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356" y="2952750"/>
            <a:ext cx="4286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571500" y="3400425"/>
            <a:ext cx="725388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79325" y="2524125"/>
            <a:ext cx="4937648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01. Connection Services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999410" y="3063329"/>
            <a:ext cx="562123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Streamlined processes for Low, Medium, High, and Extra High Tension power connections.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14912"/>
            <a:ext cx="35147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LOW TENSION (LT) CONNECTIONS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2812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Service for up to 2kW and above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000125" y="2843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Apply online via portal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33385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Investigation &amp; Load Approval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0125" y="38338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Demand Note: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Issuance &amp; Payment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0125" y="43291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 Working Days (within 100ft)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13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76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719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36721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MT / HT / EHT CONNECTIONS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6"/>
          <p:cNvGraphicFramePr/>
          <p:nvPr/>
        </p:nvGraphicFramePr>
        <p:xfrm>
          <a:off x="2905125" y="22565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{88BDBE08-635B-4C52-8596-981D0479A892}</a:tableStyleId>
              </a:tblPr>
              <a:tblGrid>
                <a:gridCol w="1885950"/>
                <a:gridCol w="1695450"/>
                <a:gridCol w="1685925"/>
                <a:gridCol w="1114425"/>
              </a:tblGrid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Load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 Fee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MT (11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 kW - 5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 (33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MW - 30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EHT-1 (132/230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MW - 140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2,400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EHT-2 (132/230 KV)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Above 140 MW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2,400 BDT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6"/>
          <p:cNvSpPr/>
          <p:nvPr/>
        </p:nvSpPr>
        <p:spPr>
          <a:xfrm>
            <a:off x="2905125" y="3592859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791075" y="3592859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486525" y="3592859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172450" y="3592859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2905125" y="4257675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791075" y="4257675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486525" y="4257675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172450" y="4257675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905125" y="4922490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791075" y="4922490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486525" y="4922490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172450" y="4922490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905125" y="5587305"/>
            <a:ext cx="1885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791075" y="5587305"/>
            <a:ext cx="1695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486525" y="5587305"/>
            <a:ext cx="1685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172450" y="5587305"/>
            <a:ext cx="1114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32744"/>
            <a:ext cx="5381625" cy="2992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432744"/>
            <a:ext cx="5381625" cy="29926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LOAD &amp; NAME MODIFICATION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2861369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Load Change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43286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 includes online application, site investigation, approval, and demand note issuance.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415290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120 - 1,200 BDT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459864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30 Days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19875" y="2861369"/>
            <a:ext cx="48506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Name Change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19875" y="3432869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Applicable for purchase or inheritance. Includes physical installation inspection.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9875" y="415290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Security adjustment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19875" y="459864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 Days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/>
        </p:nvSpPr>
        <p:spPr>
          <a:xfrm>
            <a:off x="571500" y="3400425"/>
            <a:ext cx="791616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218984" y="2524125"/>
            <a:ext cx="6053569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02. Metering &amp; Corrections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128420" y="3063329"/>
            <a:ext cx="4492228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Maintenance, testing, and data correction services for consumers.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CORRECTIONS &amp; TARIFF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95462"/>
            <a:ext cx="2171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6334125" y="22479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Name/Address Correction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34125" y="26955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Requires updated bill and NID. Provided free of charge within 2 working days.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334125" y="3529905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382518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Tariff Change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34125" y="427285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shifts between Residential, Commercial, or Industrial categories.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471859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120 - 1,200 BDT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34125" y="516433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 Days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METER SPECIFIC SERVICES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238375" y="29384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Meter Installation/Replacement: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360 - 12,000 BDT | 3-7 Days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2238375" y="34337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Meter Inspection: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180 - 2,400 BDT | 5-7 Days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2238375" y="39290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Meter Testing: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240 - 4,800 BDT | 2-10 Days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2238375" y="4424362"/>
            <a:ext cx="814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 Meter Lock Removal: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Free of Cost | Within 6 Hours</a:t>
            </a:r>
            <a:endParaRPr/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976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718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462462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571500" y="3400425"/>
            <a:ext cx="817959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250922" y="2524125"/>
            <a:ext cx="5818539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03. Service Maintenance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930925" y="3063329"/>
            <a:ext cx="468957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Handling disconnections, infrastructure maintenance, and support.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35698"/>
            <a:ext cx="31813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DISCONNECTION &amp; RECONNECTION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266030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DC/RC Due to Arrears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31079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Payment of dues is mandatory for reconnection.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355371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 Ph: 360 BDT | 3 Ph: 960 BDT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3999458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Industrial: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6,000 - 12,000 BDT</a:t>
            </a:r>
            <a:endParaRPr/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SUPPORT &amp; CONSUMER GUIDELINES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6334125" y="1811684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Other Services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334125" y="225935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Service Cable Repair: 240 - 3,000 BDT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334125" y="270510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Transformer Oil Test: 1,200 BDT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334125" y="315084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Arrears Certificate: Free (24 Hours)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6334125" y="3615630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6334125" y="381565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Consumer Responsibilities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334125" y="426333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Regular bill payment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334125" y="470907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Avoid using load beyond approved limit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34125" y="515481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Report electricity theft immediately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334125" y="560055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Avoid intermediaries (brokers)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5000"/>
            <a:ext cx="203835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1905000"/>
            <a:ext cx="1628775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125" y="1905000"/>
            <a:ext cx="1962150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652837"/>
            <a:ext cx="484822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COMPLAINT REDRESSAL (GRS)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0637" y="22955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930592" y="3009900"/>
            <a:ext cx="132016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Complaint Officer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962025" y="3848100"/>
            <a:ext cx="1257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DGM (ICT), NESCO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962025" y="4568130"/>
            <a:ext cx="1257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60 Days</a:t>
            </a:r>
            <a:endParaRPr/>
          </a:p>
        </p:txBody>
      </p:sp>
      <p:pic>
        <p:nvPicPr>
          <p:cNvPr descr="image.png" id="243" name="Google Shape;24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1862" y="22955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3264931" y="3009900"/>
            <a:ext cx="890111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Appeal Officer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3286125" y="3848100"/>
            <a:ext cx="8477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Additional Secretary (Admin)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286125" y="4842420"/>
            <a:ext cx="847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30 Days</a:t>
            </a:r>
            <a:endParaRPr/>
          </a:p>
        </p:txBody>
      </p:sp>
      <p:pic>
        <p:nvPicPr>
          <p:cNvPr descr="image.png" id="247" name="Google Shape;24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53075" y="22955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5171122" y="3009900"/>
            <a:ext cx="124015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Cabinet Division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200650" y="3848100"/>
            <a:ext cx="118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www.grs.gov.bd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200650" y="4293840"/>
            <a:ext cx="1181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90 Days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206707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04993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03279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023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4023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808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808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15616"/>
            <a:ext cx="1304925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220994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https://img.freepik.com/premium-psd/psd-picture-3d-electrician-installing-light-fixture-yellow-white-wall-wearing-yellow-helmet-brown-belt-with-gray-leg-visible-foreground-png-psd_1158579-223.jpg?w=360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265375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8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319280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https://media.istockphoto.com/id/2128704081/photo/electricity-meters-check-mature-engineer-worker-in-vest-examining-meters-writes-notes-and.jpg?s=612x612&amp;w=0&amp;k=20&amp;c=N5TEHHnrOiYnZmzAEvweojxYEKwuADjBgZzyZGk1ckI=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6366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82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17567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https://png.pngtree.com/png-clipart/20250130/original/pngtree-illustration-of-electrician-repairing-power-line-png-image_20354158.png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44213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661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496044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https://static.vecteezy.com/system/resources/previews/047/782/845/non_2x/two-cartoon-customer-service-representatives-are-smiling-and-talking-to-each-other-while-using-a-laptop-and-wearing-headsets-free-vector.jpg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54042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